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BAC83-5B72-8B9A-75A4-DF9EEBEBE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F9045-309A-8D6E-1205-7777893CC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A5976-6F1C-40A7-D43E-38C009E83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FC853-42F0-40BE-8B6F-7A8BB13911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53BEB-4121-81CB-965F-BA155EC21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AE727-A61A-829C-6FE9-8278352E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7F38F-183B-4E7B-9D69-121CC9226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664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6A0CB-A81B-9CD2-873A-39BAE28C8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6082C-AEF0-F9AD-4345-3CD05109D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CE3F6-0FBE-A322-466E-6930B7FAA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FC853-42F0-40BE-8B6F-7A8BB13911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ADCB7-8B0E-C89A-2853-D6B889BB0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D5019-D4F0-0185-3ADB-F3E42AB9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7F38F-183B-4E7B-9D69-121CC9226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551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98A95-E8AC-00A2-E5B2-B6841FA2A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D78FA5-C331-13DC-6F60-BD2369203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919E2-5A2C-EE98-AA3D-19D42747E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FC853-42F0-40BE-8B6F-7A8BB13911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EE708-A4B2-335C-0F95-57C694A46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4A50E-DB26-0571-88E1-36496CC14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7F38F-183B-4E7B-9D69-121CC9226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34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05012-47A5-ACC1-368E-730CED062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D4346-E629-864F-FD34-8BFA4AA7E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62FBC-1DFA-6F2F-1601-1645EB27F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93773-FE40-C134-D977-CCA14599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FC853-42F0-40BE-8B6F-7A8BB13911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59021-7D78-8BD2-2319-DB672853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0F137-1711-0353-B3A7-7AEDDD852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7F38F-183B-4E7B-9D69-121CC9226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807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37E51-810A-4D2E-48CB-697F850F0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B4535-0074-2C71-7C86-4ACDD1DEA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EA3FE-FD47-440B-7D43-C798B7433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3AEBA6-C49B-E489-CD6F-9E2D6414C3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7CF262-EE6D-90DD-D3E8-B280F9EED1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76F671-F461-E707-475D-4CF659348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FC853-42F0-40BE-8B6F-7A8BB13911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454BCB-BD30-FB46-5925-67558B833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F64A5-E1D0-4FCD-59A6-C4EB2D74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7F38F-183B-4E7B-9D69-121CC9226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447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082B9-43C3-D680-C0D8-F3D5F5F5B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271E0E-D866-2EBE-62F0-951F5163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FC853-42F0-40BE-8B6F-7A8BB13911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EA051-9DB5-59DD-9D68-ADDC46B38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F8929C-2968-DA4E-B215-17F4EA0FA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7F38F-183B-4E7B-9D69-121CC9226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44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190D40-C9EF-550F-2F73-2F3B26A3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FC853-42F0-40BE-8B6F-7A8BB13911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4F691-CC70-AFD0-46A2-AFFAF2378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CB67A-0DDA-AF9E-F0DA-EEF8310A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7F38F-183B-4E7B-9D69-121CC9226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623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BFAB0-DDDC-E4A7-2A00-988E55AB1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314D4-8CC2-A286-E632-21DAC9F3E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63B9A-9752-CDEA-40A1-834432CED8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8B64E-99A5-410C-A977-CAF26047C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FC853-42F0-40BE-8B6F-7A8BB13911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119E6D-B383-18A1-A5C2-4DB93F85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A7D551-A6D8-2123-2F69-3766C8CA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7F38F-183B-4E7B-9D69-121CC9226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98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E9A7-A6AA-D275-D70E-354093E91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BDC884-4CB8-1694-2FAB-A28AFE1F58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46401-4BD3-4623-F6AC-909EC224B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EDC13-2652-1B2D-F0BB-8B8F7571F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FC853-42F0-40BE-8B6F-7A8BB13911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911A61-1FF8-994F-5543-1235898D7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4A0BC-7EC2-ABD6-BDE4-7C86A9A08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7F38F-183B-4E7B-9D69-121CC9226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15FB4-D7F4-B665-8E4E-38268E9A7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9AF95-932E-D595-38FA-8DF19023F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54CE0-E9B5-F2A0-351D-C82F3BA65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FC853-42F0-40BE-8B6F-7A8BB13911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EEF7F-84DA-A8E4-26BD-2732C011B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35D79-C3E2-58E4-2A88-4271D4805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7F38F-183B-4E7B-9D69-121CC9226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65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A22477-D448-4DF8-783C-6CEDFA511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895C1-0A0C-66D8-1E9B-F74A8E009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917FD-44F6-0B90-EFC2-07ADA3B7E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CFC853-42F0-40BE-8B6F-7A8BB13911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D2535-4444-A7CD-B2F6-05C19A05F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01857-0B49-0918-1122-BCFF708CB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7F38F-183B-4E7B-9D69-121CC9226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304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668937-8B01-DE22-D12E-C1F70E5BD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EBF44-E89E-D8DA-5037-0F18A16FF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BA2D9-4808-9266-4C97-3F3BF95E0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FC853-42F0-40BE-8B6F-7A8BB13911F7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2216D-524D-2725-58AD-EE2A67DC7F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62B9E-5500-A389-E77C-4844949782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7F38F-183B-4E7B-9D69-121CC92263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973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5411-3210-2D8E-1A47-1963808E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Anatomy of a Path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09BF8-75F1-3C6A-D239-E9B43DA82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the arrow as a physical link.</a:t>
            </a:r>
          </a:p>
          <a:p>
            <a:r>
              <a:rPr lang="en-US" b="1" dirty="0"/>
              <a:t>()</a:t>
            </a:r>
            <a:r>
              <a:rPr lang="en-US" dirty="0"/>
              <a:t> Parentheses represent </a:t>
            </a:r>
            <a:r>
              <a:rPr lang="en-US" b="1" dirty="0"/>
              <a:t>Nodes</a:t>
            </a:r>
            <a:r>
              <a:rPr lang="en-US" dirty="0"/>
              <a:t> (Circles).</a:t>
            </a:r>
          </a:p>
          <a:p>
            <a:r>
              <a:rPr lang="en-US" b="1" dirty="0"/>
              <a:t>[]</a:t>
            </a:r>
            <a:r>
              <a:rPr lang="en-US" dirty="0"/>
              <a:t> Brackets represent the </a:t>
            </a:r>
            <a:r>
              <a:rPr lang="en-US" b="1" dirty="0"/>
              <a:t>Relationship</a:t>
            </a:r>
            <a:r>
              <a:rPr lang="en-US" dirty="0"/>
              <a:t> (The Line).</a:t>
            </a:r>
          </a:p>
          <a:p>
            <a:r>
              <a:rPr lang="en-US" b="1" dirty="0"/>
              <a:t>-&gt;</a:t>
            </a:r>
            <a:r>
              <a:rPr lang="en-US" dirty="0"/>
              <a:t> or </a:t>
            </a:r>
            <a:r>
              <a:rPr lang="en-US" b="1" dirty="0"/>
              <a:t>&lt;-</a:t>
            </a:r>
            <a:r>
              <a:rPr lang="en-US" dirty="0"/>
              <a:t> The dash and bracket create the </a:t>
            </a:r>
            <a:r>
              <a:rPr lang="en-US" b="1" dirty="0"/>
              <a:t>Direction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0670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1D2B2-207F-B07F-6FAC-AFCE281A6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 Directions of Querying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C4FBD-26A4-0CD7-2C4A-FBDC22042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A. Outgoing Relationship (A)-[:TYPE]-&gt;(B)</a:t>
            </a:r>
          </a:p>
          <a:p>
            <a:r>
              <a:rPr lang="en-US" dirty="0"/>
              <a:t>This is used when the "Action" starts at A and ends at B.</a:t>
            </a:r>
          </a:p>
          <a:p>
            <a:r>
              <a:rPr lang="en-US" b="1" dirty="0"/>
              <a:t>Example:</a:t>
            </a:r>
            <a:r>
              <a:rPr lang="en-US" dirty="0"/>
              <a:t> (Person)-[:OWNS]-&gt;(Car)</a:t>
            </a:r>
          </a:p>
          <a:p>
            <a:r>
              <a:rPr lang="en-US" b="1" dirty="0"/>
              <a:t>Meaning:</a:t>
            </a:r>
            <a:r>
              <a:rPr lang="en-US" dirty="0"/>
              <a:t> "Find the person who owns the car."</a:t>
            </a:r>
          </a:p>
          <a:p>
            <a:r>
              <a:rPr lang="en-US" b="1" dirty="0"/>
              <a:t>B. Incoming Relationship (A)&lt;-[:TYPE]-(B)</a:t>
            </a:r>
          </a:p>
          <a:p>
            <a:r>
              <a:rPr lang="en-US" dirty="0"/>
              <a:t>This is used when the direction is reversed.</a:t>
            </a:r>
          </a:p>
          <a:p>
            <a:r>
              <a:rPr lang="en-US" b="1" dirty="0"/>
              <a:t>Example:</a:t>
            </a:r>
            <a:r>
              <a:rPr lang="en-US" dirty="0"/>
              <a:t> (Company)&lt;-[:WORKS_AT]-(Person)</a:t>
            </a:r>
          </a:p>
          <a:p>
            <a:r>
              <a:rPr lang="en-US" b="1" dirty="0"/>
              <a:t>Meaning:</a:t>
            </a:r>
            <a:r>
              <a:rPr lang="en-US" dirty="0"/>
              <a:t> "Find the person who works at the company." (Note: This is logically the same as (Person)-[:WORKS_AT]-&gt;(Company)).</a:t>
            </a:r>
          </a:p>
          <a:p>
            <a:r>
              <a:rPr lang="en-US" b="1" dirty="0"/>
              <a:t>C. Undirected (Bi-directional) (A)-[:TYPE]-(B)</a:t>
            </a:r>
          </a:p>
          <a:p>
            <a:r>
              <a:rPr lang="en-US" b="1" dirty="0"/>
              <a:t>Crucial Concept:</a:t>
            </a:r>
            <a:r>
              <a:rPr lang="en-US" dirty="0"/>
              <a:t> In Neo4j, you </a:t>
            </a:r>
            <a:r>
              <a:rPr lang="en-US" i="1" dirty="0"/>
              <a:t>must</a:t>
            </a:r>
            <a:r>
              <a:rPr lang="en-US" dirty="0"/>
              <a:t> store a direction, but you don't have to </a:t>
            </a:r>
            <a:r>
              <a:rPr lang="en-US" i="1" dirty="0"/>
              <a:t>query</a:t>
            </a:r>
            <a:r>
              <a:rPr lang="en-US" dirty="0"/>
              <a:t> with one.</a:t>
            </a:r>
          </a:p>
          <a:p>
            <a:r>
              <a:rPr lang="en-US" b="1" dirty="0"/>
              <a:t>Example:</a:t>
            </a:r>
            <a:r>
              <a:rPr lang="en-US" dirty="0"/>
              <a:t> (Person)-[:FRIEND_OF]-(Person)</a:t>
            </a:r>
          </a:p>
          <a:p>
            <a:r>
              <a:rPr lang="en-US" b="1" dirty="0"/>
              <a:t>Meaning:</a:t>
            </a:r>
            <a:r>
              <a:rPr lang="en-US" dirty="0"/>
              <a:t> "Find two people who are friends, regardless of who added whom first." This tells Neo4j to ignore the arrowhead and look both ways.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7890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F213D-20A6-25AE-0754-6967932AD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Arrow Syntax (The "Power Moves")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5AA4C-BC87-1B45-4146-4AA1B7835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Variable Length Paths (Transitive)</a:t>
            </a:r>
          </a:p>
          <a:p>
            <a:r>
              <a:rPr lang="en-US" dirty="0"/>
              <a:t>If you want to find "Friend of a Friend," you don't need to draw three nodes. You can use the "variable" arrow:</a:t>
            </a:r>
          </a:p>
          <a:p>
            <a:r>
              <a:rPr lang="en-US" dirty="0"/>
              <a:t>MATCH (</a:t>
            </a:r>
            <a:r>
              <a:rPr lang="en-US" dirty="0" err="1"/>
              <a:t>p:Person</a:t>
            </a:r>
            <a:r>
              <a:rPr lang="en-US" dirty="0"/>
              <a:t> {</a:t>
            </a:r>
            <a:r>
              <a:rPr lang="en-US" dirty="0" err="1"/>
              <a:t>name:'Alice</a:t>
            </a:r>
            <a:r>
              <a:rPr lang="en-US" dirty="0"/>
              <a:t>'})-[:KNOWS*2]-&gt;(</a:t>
            </a:r>
            <a:r>
              <a:rPr lang="en-US" dirty="0" err="1"/>
              <a:t>fof</a:t>
            </a:r>
            <a:r>
              <a:rPr lang="en-US" dirty="0"/>
              <a:t>)</a:t>
            </a:r>
          </a:p>
          <a:p>
            <a:r>
              <a:rPr lang="en-US" b="1" dirty="0"/>
              <a:t>Explanation:</a:t>
            </a:r>
            <a:r>
              <a:rPr lang="en-US" dirty="0"/>
              <a:t> The *2 tells the arrow to jump twice.</a:t>
            </a:r>
          </a:p>
          <a:p>
            <a:r>
              <a:rPr lang="en-US" b="1" dirty="0"/>
              <a:t>Any Relationship Type</a:t>
            </a:r>
          </a:p>
          <a:p>
            <a:r>
              <a:rPr lang="en-US" dirty="0"/>
              <a:t>Sometimes you don't care </a:t>
            </a:r>
            <a:r>
              <a:rPr lang="en-US" i="1" dirty="0"/>
              <a:t>how</a:t>
            </a:r>
            <a:r>
              <a:rPr lang="en-US" dirty="0"/>
              <a:t> two things are connected, just that they </a:t>
            </a:r>
            <a:r>
              <a:rPr lang="en-US" i="1" dirty="0"/>
              <a:t>are</a:t>
            </a:r>
            <a:r>
              <a:rPr lang="en-US" dirty="0"/>
              <a:t> connected.</a:t>
            </a:r>
          </a:p>
          <a:p>
            <a:r>
              <a:rPr lang="en-US" dirty="0"/>
              <a:t>MATCH (a)-[r]-&gt;(b)</a:t>
            </a:r>
          </a:p>
          <a:p>
            <a:r>
              <a:rPr lang="en-US" b="1" dirty="0"/>
              <a:t>Explanation:</a:t>
            </a:r>
            <a:r>
              <a:rPr lang="en-US" dirty="0"/>
              <a:t> Leaving the brackets empty matches any relationship type (Likes, Follows, </a:t>
            </a:r>
            <a:r>
              <a:rPr lang="en-US" dirty="0" err="1"/>
              <a:t>Works_With</a:t>
            </a:r>
            <a:r>
              <a:rPr lang="en-US" dirty="0"/>
              <a:t>, etc.).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7470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309C7-F4E9-3E7C-79C1-CC83F86AD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A69AF9-0093-AA75-985C-92B4664259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934494"/>
          <a:ext cx="10515600" cy="2133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70439632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6289518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484415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Cypher Pattern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Logic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Real World Example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517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(p:Person)-[:BORN_IN]-&gt;(c:Country)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One-way fact.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Alice was born in India.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673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(p1:Person)-[:MARRIED_TO]-(p2:Person)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Two-way state.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Alice and Bob are married.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5355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nb-NO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(u:User)-[:POSTED]-&gt;(m:Msg)&lt;-[:LIKED]-(u2:User)</a:t>
                      </a:r>
                      <a:endParaRPr lang="nb-NO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Intersection.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Bob liked Alice's post.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267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824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D3A6E-7075-CD7A-1691-E49135272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write the Cypher for this story: </a:t>
            </a:r>
            <a:r>
              <a:rPr lang="en-US" i="1" dirty="0"/>
              <a:t>"A </a:t>
            </a:r>
            <a:r>
              <a:rPr lang="en-US" b="1" i="1" dirty="0"/>
              <a:t>Customer</a:t>
            </a:r>
            <a:r>
              <a:rPr lang="en-US" i="1" dirty="0"/>
              <a:t> (Rahul) </a:t>
            </a:r>
            <a:r>
              <a:rPr lang="en-US" b="1" i="1" dirty="0"/>
              <a:t>PURCHASED</a:t>
            </a:r>
            <a:r>
              <a:rPr lang="en-US" i="1" dirty="0"/>
              <a:t> a </a:t>
            </a:r>
            <a:r>
              <a:rPr lang="en-US" b="1" i="1" dirty="0"/>
              <a:t>Phone</a:t>
            </a:r>
            <a:r>
              <a:rPr lang="en-US" i="1" dirty="0"/>
              <a:t>, and that </a:t>
            </a:r>
            <a:r>
              <a:rPr lang="en-US" b="1" i="1" dirty="0"/>
              <a:t>Phone</a:t>
            </a:r>
            <a:r>
              <a:rPr lang="en-US" i="1" dirty="0"/>
              <a:t> was </a:t>
            </a:r>
            <a:r>
              <a:rPr lang="en-US" b="1" i="1" dirty="0"/>
              <a:t>MADE_BY</a:t>
            </a:r>
            <a:r>
              <a:rPr lang="en-US" i="1" dirty="0"/>
              <a:t> a </a:t>
            </a:r>
            <a:r>
              <a:rPr lang="en-US" b="1" i="1" dirty="0"/>
              <a:t>Company</a:t>
            </a:r>
            <a:r>
              <a:rPr lang="en-US" i="1" dirty="0"/>
              <a:t> (Apple)."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A33C5-ED8B-7A40-DF17-03E959C13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MATCH (</a:t>
            </a:r>
            <a:r>
              <a:rPr lang="en-US" dirty="0" err="1"/>
              <a:t>c:Customer</a:t>
            </a:r>
            <a:r>
              <a:rPr lang="en-US" dirty="0"/>
              <a:t> {name: 'Rahul'})-[:PURCHASED]-&gt;(</a:t>
            </a:r>
            <a:r>
              <a:rPr lang="en-US" dirty="0" err="1"/>
              <a:t>p:Phone</a:t>
            </a:r>
            <a:r>
              <a:rPr lang="en-US" dirty="0"/>
              <a:t>)-[:MADE_BY]-&gt;(</a:t>
            </a:r>
            <a:r>
              <a:rPr lang="en-US" dirty="0" err="1"/>
              <a:t>comp:Company</a:t>
            </a:r>
            <a:r>
              <a:rPr lang="en-US" dirty="0"/>
              <a:t> {name: 'Apple'})</a:t>
            </a:r>
          </a:p>
          <a:p>
            <a:r>
              <a:rPr lang="en-US" dirty="0"/>
              <a:t>RETURN c, p, comp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1522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9A11C-F61D-A0DD-63C5-E3C2B447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Storge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EAEA1-9598-2778-7A16-6CE978527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br>
              <a:rPr lang="en-US"/>
            </a:br>
            <a:r>
              <a:rPr lang="en-US"/>
              <a:t>In </a:t>
            </a:r>
            <a:r>
              <a:rPr lang="en-US" dirty="0"/>
              <a:t>Java, we think in terms of </a:t>
            </a:r>
            <a:r>
              <a:rPr lang="en-US" b="1" dirty="0"/>
              <a:t>References</a:t>
            </a:r>
            <a:r>
              <a:rPr lang="en-US" dirty="0"/>
              <a:t>. In Neo4j, we think in terms of </a:t>
            </a:r>
            <a:r>
              <a:rPr lang="en-US" b="1" dirty="0"/>
              <a:t>Traversals</a:t>
            </a:r>
            <a:r>
              <a:rPr lang="en-US" dirty="0"/>
              <a:t>.</a:t>
            </a:r>
          </a:p>
          <a:p>
            <a:r>
              <a:rPr lang="en-US" b="1" dirty="0"/>
              <a:t>1. The Storage Rule</a:t>
            </a:r>
          </a:p>
          <a:p>
            <a:r>
              <a:rPr lang="en-US" dirty="0"/>
              <a:t>Even if a relationship is conceptually "two-way" (like a marriage or a partnership), Neo4j </a:t>
            </a:r>
            <a:r>
              <a:rPr lang="en-US" b="1" dirty="0"/>
              <a:t>requires</a:t>
            </a:r>
            <a:r>
              <a:rPr lang="en-US" dirty="0"/>
              <a:t> you to pick a direction when you create it.</a:t>
            </a:r>
          </a:p>
          <a:p>
            <a:r>
              <a:rPr lang="en-US" b="1" dirty="0"/>
              <a:t>Wrong:</a:t>
            </a:r>
            <a:r>
              <a:rPr lang="en-US" dirty="0"/>
              <a:t> CREATE (a)-[:MARRIED_TO]-(b) (Error: Direction required for CREATE)</a:t>
            </a:r>
          </a:p>
          <a:p>
            <a:r>
              <a:rPr lang="en-US" b="1" dirty="0"/>
              <a:t>Right:</a:t>
            </a:r>
            <a:r>
              <a:rPr lang="en-US" dirty="0"/>
              <a:t> CREATE (a)-[:MARRIED_TO]-&gt;(b)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0135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573</Words>
  <Application>Microsoft Office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Google Sans Text</vt:lpstr>
      <vt:lpstr>Office Theme</vt:lpstr>
      <vt:lpstr>The Anatomy of a Path</vt:lpstr>
      <vt:lpstr>The Three Directions of Querying</vt:lpstr>
      <vt:lpstr>Advanced Arrow Syntax (The "Power Moves")</vt:lpstr>
      <vt:lpstr>PowerPoint Presentation</vt:lpstr>
      <vt:lpstr>write the Cypher for this story: "A Customer (Rahul) PURCHASED a Phone, and that Phone was MADE_BY a Company (Apple)."</vt:lpstr>
      <vt:lpstr>Storge rule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 rudra</dc:creator>
  <cp:lastModifiedBy>vishwa rudra</cp:lastModifiedBy>
  <cp:revision>9</cp:revision>
  <dcterms:created xsi:type="dcterms:W3CDTF">2026-02-04T08:40:55Z</dcterms:created>
  <dcterms:modified xsi:type="dcterms:W3CDTF">2026-02-04T08:46:33Z</dcterms:modified>
</cp:coreProperties>
</file>