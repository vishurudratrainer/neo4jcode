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9144000" cy="5143500" type="screen16x9"/>
  <p:notesSz cx="6858000" cy="9144000"/>
  <p:embeddedFontLst>
    <p:embeddedFont>
      <p:font typeface="Economica" panose="020B0604020202020204" charset="0"/>
      <p:regular r:id="rId30"/>
      <p:bold r:id="rId31"/>
      <p:italic r:id="rId32"/>
      <p:boldItalic r:id="rId33"/>
    </p:embeddedFont>
    <p:embeddedFont>
      <p:font typeface="Merriweather Sans" pitchFamily="2" charset="0"/>
      <p:regular r:id="rId34"/>
      <p:bold r:id="rId35"/>
      <p:italic r:id="rId36"/>
      <p:boldItalic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Open Sans ExtraBold" panose="020B0906030804020204" pitchFamily="34" charset="0"/>
      <p:bold r:id="rId42"/>
      <p:boldItalic r:id="rId43"/>
    </p:embeddedFont>
    <p:embeddedFont>
      <p:font typeface="Open Sans Light" panose="020B030603050402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7a8ed76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87a8ed76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87a8ed767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736235a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736235af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8a7f8e12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88a7f8e123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81502d0b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881502d0bd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881502d0bd_0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81502d0b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81502d0b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881502d0bd_0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81502d0bd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81502d0bd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881502d0bd_0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81502d0b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81502d0bd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881502d0bd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81502d0b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81502d0b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881502d0bd_0_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881502d0bd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881502d0bd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881502d0bd_0_1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8a7f8e12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88a7f8e123_0_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81502d0bd_0_1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881502d0b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81502d0bd_0_1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881502d0bd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81502d0bd_0_17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881502d0bd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81502d0bd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81502d0bd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81502d0bd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81502d0bd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881502d0bd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881502d0bd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1502d0bd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1502d0bd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881502d0bd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881502d0bd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81502d0bd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81502d0bd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881502d0bd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881502d0bd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881502d0bd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881502d0bd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881502d0bd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881502d0bd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881502d0bd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881502d0bd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81502d0bd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81502d0bd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881502d0bd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881502d0bd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881502d0bd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881502d0bd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880c4838f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880c4838f8_0_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170175" y="4764875"/>
            <a:ext cx="6534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D1C1D"/>
                </a:solidFill>
                <a:highlight>
                  <a:srgbClr val="FFFFFF"/>
                </a:highlight>
              </a:rPr>
              <a:t>©Neo4j, Inc. 2021 CC BY-SA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170175" y="4764875"/>
            <a:ext cx="6534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D1C1D"/>
                </a:solidFill>
                <a:highlight>
                  <a:srgbClr val="FFFFFF"/>
                </a:highlight>
              </a:rPr>
              <a:t>©Neo4j, Inc. 2021 CC BY-SA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8"/>
          <p:cNvSpPr txBox="1"/>
          <p:nvPr/>
        </p:nvSpPr>
        <p:spPr>
          <a:xfrm>
            <a:off x="170175" y="4764875"/>
            <a:ext cx="6534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D1C1D"/>
                </a:solidFill>
                <a:highlight>
                  <a:srgbClr val="FFFFFF"/>
                </a:highlight>
              </a:rPr>
              <a:t>©Neo4j, Inc. 2021 CC BY-SA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" name="Google Shape;46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- Green">
  <p:cSld name="Title - Gree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3" descr="Picture 11"/>
          <p:cNvPicPr preferRelativeResize="0"/>
          <p:nvPr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0" y="9407"/>
            <a:ext cx="9144000" cy="5143500"/>
          </a:xfrm>
          <a:prstGeom prst="rect">
            <a:avLst/>
          </a:prstGeom>
          <a:gradFill>
            <a:gsLst>
              <a:gs pos="0">
                <a:srgbClr val="70B9F0">
                  <a:alpha val="60000"/>
                </a:srgbClr>
              </a:gs>
              <a:gs pos="33000">
                <a:srgbClr val="70B9F0">
                  <a:alpha val="40000"/>
                </a:srgbClr>
              </a:gs>
              <a:gs pos="66000">
                <a:srgbClr val="71CD9C">
                  <a:alpha val="40000"/>
                </a:srgbClr>
              </a:gs>
              <a:gs pos="100000">
                <a:srgbClr val="71CD9C">
                  <a:alpha val="60000"/>
                </a:srgbClr>
              </a:gs>
            </a:gsLst>
            <a:lin ang="16200038" scaled="0"/>
          </a:gradFill>
          <a:ln>
            <a:noFill/>
          </a:ln>
          <a:effectLst>
            <a:outerShdw blurRad="50800" rotWithShape="0">
              <a:srgbClr val="000000">
                <a:alpha val="69410"/>
              </a:srgbClr>
            </a:outerShdw>
          </a:effectLst>
        </p:spPr>
        <p:txBody>
          <a:bodyPr spcFirstLastPara="1" wrap="square" lIns="25700" tIns="25700" rIns="25700" bIns="2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</a:pPr>
            <a:endParaRPr sz="78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3" descr="Picture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3531" y="4456328"/>
            <a:ext cx="1059456" cy="355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descr="Picture 15"/>
          <p:cNvPicPr preferRelativeResize="0"/>
          <p:nvPr/>
        </p:nvPicPr>
        <p:blipFill rotWithShape="1">
          <a:blip r:embed="rId4">
            <a:alphaModFix amt="18000"/>
          </a:blip>
          <a:srcRect/>
          <a:stretch/>
        </p:blipFill>
        <p:spPr>
          <a:xfrm>
            <a:off x="-707094" y="-1562531"/>
            <a:ext cx="10234158" cy="790821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611489" y="1615214"/>
            <a:ext cx="7516500" cy="7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4"/>
              <a:buFont typeface="Open Sans ExtraBold"/>
              <a:buNone/>
              <a:defRPr sz="3993" b="1">
                <a:solidFill>
                  <a:srgbClr val="FFFF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1"/>
          </p:nvPr>
        </p:nvSpPr>
        <p:spPr>
          <a:xfrm>
            <a:off x="639711" y="2417703"/>
            <a:ext cx="7488300" cy="20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2363"/>
              <a:buFont typeface="Open Sans Light"/>
              <a:buNone/>
              <a:defRPr sz="236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22860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2363"/>
              <a:buFont typeface="Open Sans Light"/>
              <a:buNone/>
              <a:defRPr sz="236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22860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2363"/>
              <a:buFont typeface="Open Sans Light"/>
              <a:buNone/>
              <a:defRPr sz="236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7865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2363"/>
              <a:buFont typeface="Open Sans Light"/>
              <a:buChar char="•"/>
              <a:defRPr sz="236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7865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2363"/>
              <a:buFont typeface="Open Sans Light"/>
              <a:buChar char="•"/>
              <a:defRPr sz="236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301602" y="4828690"/>
            <a:ext cx="144300" cy="1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sz="956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sz="956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sz="956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sz="956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sz="956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sz="956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sz="956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sz="956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sz="956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_1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583250" y="1293675"/>
            <a:ext cx="81828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Char char="•"/>
              <a:defRPr sz="2000" b="0" i="1" u="none" strike="noStrike" cap="none">
                <a:solidFill>
                  <a:srgbClr val="53585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556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154458" y="4764915"/>
            <a:ext cx="4287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9407" y="5039552"/>
            <a:ext cx="9162299" cy="1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583260" y="379974"/>
            <a:ext cx="8182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981"/>
              <a:buFont typeface="Open Sans ExtraBold"/>
              <a:buNone/>
              <a:defRPr sz="3000" b="0" i="0" u="none" strike="noStrike" cap="none">
                <a:solidFill>
                  <a:srgbClr val="5D5D5D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170175" y="4764875"/>
            <a:ext cx="65346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D1C1D"/>
                </a:solidFill>
                <a:highlight>
                  <a:srgbClr val="FFFFFF"/>
                </a:highlight>
              </a:rPr>
              <a:t>©Neo4j, Inc. 2021 CC BY-SA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-slide green">
  <p:cSld name="Statement-slide green">
    <p:bg>
      <p:bgPr>
        <a:gradFill>
          <a:gsLst>
            <a:gs pos="0">
              <a:srgbClr val="6EB9F5"/>
            </a:gs>
            <a:gs pos="100000">
              <a:srgbClr val="71CD9C"/>
            </a:gs>
          </a:gsLst>
          <a:lin ang="1717842" scaled="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descr="Image"/>
          <p:cNvPicPr preferRelativeResize="0"/>
          <p:nvPr/>
        </p:nvPicPr>
        <p:blipFill rotWithShape="1">
          <a:blip r:embed="rId2">
            <a:alphaModFix amt="14970"/>
          </a:blip>
          <a:srcRect/>
          <a:stretch/>
        </p:blipFill>
        <p:spPr>
          <a:xfrm>
            <a:off x="1764659" y="368384"/>
            <a:ext cx="6115849" cy="384559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633412" y="1784089"/>
            <a:ext cx="7877400" cy="15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Open Sans ExtraBold"/>
              <a:buNone/>
              <a:defRPr sz="4500">
                <a:solidFill>
                  <a:srgbClr val="FFFF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15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2397" y="4454962"/>
            <a:ext cx="1019206" cy="34488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4483446" y="4905374"/>
            <a:ext cx="1722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Green Footer">
  <p:cSld name="Blank - Green Foot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531525" y="307343"/>
            <a:ext cx="80811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981"/>
              <a:buFont typeface="Open Sans ExtraBold"/>
              <a:buNone/>
              <a:defRPr sz="3000" b="1" i="0" u="none" strike="noStrike" cap="none">
                <a:solidFill>
                  <a:srgbClr val="40404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ldNum" idx="12"/>
          </p:nvPr>
        </p:nvSpPr>
        <p:spPr>
          <a:xfrm>
            <a:off x="98016" y="4755508"/>
            <a:ext cx="4287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10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9407" y="5039552"/>
            <a:ext cx="9162299" cy="1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583261" y="1293666"/>
            <a:ext cx="81828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583261" y="379974"/>
            <a:ext cx="8182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301602" y="4828690"/>
            <a:ext cx="144300" cy="1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956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956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956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956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956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956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956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956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sz="956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94"/>
              <a:buFont typeface="Open Sans ExtraBold"/>
              <a:buNone/>
            </a:pPr>
            <a:r>
              <a:rPr lang="en" sz="3600"/>
              <a:t>Introduction to Cypher</a:t>
            </a:r>
            <a:endParaRPr sz="3000"/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363"/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session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cover: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Property graph database anatomy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 to Cypher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Continuing your graph journey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Open Sans ExtraBold"/>
              <a:buNone/>
            </a:pPr>
            <a:r>
              <a:rPr lang="en"/>
              <a:t>So what does a (property) graph look like?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/>
        </p:nvSpPr>
        <p:spPr>
          <a:xfrm>
            <a:off x="602625" y="1228900"/>
            <a:ext cx="8637000" cy="3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The main data element from which graphs are constructed </a:t>
            </a:r>
            <a:b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800" i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4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Graph components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Jane</a:t>
            </a:r>
            <a:endParaRPr sz="1800" b="1"/>
          </a:p>
        </p:txBody>
      </p:sp>
      <p:sp>
        <p:nvSpPr>
          <p:cNvPr id="116" name="Google Shape;116;p21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car</a:t>
            </a:r>
            <a:endParaRPr sz="1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5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Graph components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602625" y="1228900"/>
            <a:ext cx="8637000" cy="3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The main data element from which graphs are constructed </a:t>
            </a:r>
            <a:b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A link between two nodes.  Has:</a:t>
            </a:r>
            <a:endParaRPr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Direction</a:t>
            </a:r>
            <a:endParaRPr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Type</a:t>
            </a:r>
            <a:endParaRPr sz="1800" b="1" i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 i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A node without relationships is permitted.  A relationship without nodes is not</a:t>
            </a:r>
            <a:endParaRPr sz="1800" i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5" name="Google Shape;125;p22"/>
          <p:cNvCxnSpPr>
            <a:stCxn id="126" idx="2"/>
            <a:endCxn id="127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27" name="Google Shape;127;p22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Jane</a:t>
            </a:r>
            <a:endParaRPr sz="1800" b="1"/>
          </a:p>
        </p:txBody>
      </p:sp>
      <p:sp>
        <p:nvSpPr>
          <p:cNvPr id="126" name="Google Shape;126;p22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car</a:t>
            </a:r>
            <a:endParaRPr sz="1800" b="1"/>
          </a:p>
        </p:txBody>
      </p:sp>
      <p:sp>
        <p:nvSpPr>
          <p:cNvPr id="128" name="Google Shape;128;p22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OWNS</a:t>
            </a:r>
            <a:endParaRPr sz="18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6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graph database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7" name="Google Shape;137;p23"/>
          <p:cNvCxnSpPr>
            <a:stCxn id="138" idx="2"/>
            <a:endCxn id="139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39" name="Google Shape;139;p23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OWNS</a:t>
            </a:r>
            <a:endParaRPr sz="1800" b="1"/>
          </a:p>
        </p:txBody>
      </p:sp>
      <p:sp>
        <p:nvSpPr>
          <p:cNvPr id="141" name="Google Shape;141;p23"/>
          <p:cNvSpPr txBox="1"/>
          <p:nvPr/>
        </p:nvSpPr>
        <p:spPr>
          <a:xfrm>
            <a:off x="5516450" y="3455800"/>
            <a:ext cx="21516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8144431" y="2708853"/>
            <a:ext cx="792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7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9" name="Google Shape;149;p2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graph database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1" name="Google Shape;151;p24"/>
          <p:cNvCxnSpPr>
            <a:stCxn id="152" idx="2"/>
            <a:endCxn id="153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53" name="Google Shape;153;p24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:Person</a:t>
            </a:r>
            <a:endParaRPr sz="1200" b="1"/>
          </a:p>
        </p:txBody>
      </p:sp>
      <p:sp>
        <p:nvSpPr>
          <p:cNvPr id="152" name="Google Shape;152;p24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:Car</a:t>
            </a:r>
            <a:endParaRPr sz="1200" b="1"/>
          </a:p>
        </p:txBody>
      </p:sp>
      <p:sp>
        <p:nvSpPr>
          <p:cNvPr id="154" name="Google Shape;154;p24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OWNS</a:t>
            </a:r>
            <a:endParaRPr sz="1800" b="1"/>
          </a:p>
        </p:txBody>
      </p:sp>
      <p:sp>
        <p:nvSpPr>
          <p:cNvPr id="155" name="Google Shape;155;p24"/>
          <p:cNvSpPr txBox="1"/>
          <p:nvPr/>
        </p:nvSpPr>
        <p:spPr>
          <a:xfrm>
            <a:off x="611600" y="2063375"/>
            <a:ext cx="51237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endParaRPr sz="2400" b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Define node category (optional)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8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graph database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4" name="Google Shape;164;p25"/>
          <p:cNvCxnSpPr>
            <a:stCxn id="165" idx="2"/>
            <a:endCxn id="166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6" name="Google Shape;166;p25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:Person</a:t>
            </a:r>
            <a:endParaRPr sz="1200" b="1"/>
          </a:p>
        </p:txBody>
      </p:sp>
      <p:sp>
        <p:nvSpPr>
          <p:cNvPr id="165" name="Google Shape;165;p25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:Car</a:t>
            </a:r>
            <a:endParaRPr sz="1200" b="1"/>
          </a:p>
        </p:txBody>
      </p:sp>
      <p:sp>
        <p:nvSpPr>
          <p:cNvPr id="167" name="Google Shape;167;p25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OWNS</a:t>
            </a:r>
            <a:endParaRPr sz="1800" b="1"/>
          </a:p>
        </p:txBody>
      </p:sp>
      <p:sp>
        <p:nvSpPr>
          <p:cNvPr id="168" name="Google Shape;168;p25"/>
          <p:cNvSpPr txBox="1"/>
          <p:nvPr/>
        </p:nvSpPr>
        <p:spPr>
          <a:xfrm>
            <a:off x="611600" y="2063375"/>
            <a:ext cx="51237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endParaRPr sz="2400" b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Define node category (optional)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Can have more than one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8144431" y="2708853"/>
            <a:ext cx="792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:Asset</a:t>
            </a:r>
            <a:endParaRPr sz="12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9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7" name="Google Shape;177;p26"/>
          <p:cNvCxnSpPr>
            <a:stCxn id="178" idx="2"/>
            <a:endCxn id="179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79" name="Google Shape;179;p26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:Person</a:t>
            </a:r>
            <a:endParaRPr sz="1200" b="1"/>
          </a:p>
        </p:txBody>
      </p:sp>
      <p:sp>
        <p:nvSpPr>
          <p:cNvPr id="178" name="Google Shape;178;p26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:Car</a:t>
            </a:r>
            <a:endParaRPr sz="1200" b="1"/>
          </a:p>
        </p:txBody>
      </p:sp>
      <p:sp>
        <p:nvSpPr>
          <p:cNvPr id="180" name="Google Shape;180;p26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OWNS</a:t>
            </a:r>
            <a:endParaRPr sz="1800" b="1"/>
          </a:p>
        </p:txBody>
      </p:sp>
      <p:sp>
        <p:nvSpPr>
          <p:cNvPr id="181" name="Google Shape;181;p26"/>
          <p:cNvSpPr txBox="1"/>
          <p:nvPr/>
        </p:nvSpPr>
        <p:spPr>
          <a:xfrm>
            <a:off x="611600" y="2063375"/>
            <a:ext cx="51333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endParaRPr sz="2400" b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Define node category (optional)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Can have more than one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611590" y="3282565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Properties</a:t>
            </a:r>
            <a:endParaRPr sz="2400" b="1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Enrich a node or relationship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 need for nulls!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5516450" y="3455800"/>
            <a:ext cx="21516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Open Sans"/>
                <a:ea typeface="Open Sans"/>
                <a:cs typeface="Open Sans"/>
                <a:sym typeface="Open Sans"/>
              </a:rPr>
              <a:t>name: Jane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7831200" y="3455800"/>
            <a:ext cx="11604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Open Sans"/>
                <a:ea typeface="Open Sans"/>
                <a:cs typeface="Open Sans"/>
                <a:sym typeface="Open Sans"/>
              </a:rPr>
              <a:t>make: Volvo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Open Sans"/>
                <a:ea typeface="Open Sans"/>
                <a:cs typeface="Open Sans"/>
                <a:sym typeface="Open Sans"/>
              </a:rPr>
              <a:t>model: V60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6659450" y="3151000"/>
            <a:ext cx="21516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latin typeface="Open Sans"/>
                <a:ea typeface="Open Sans"/>
                <a:cs typeface="Open Sans"/>
                <a:sym typeface="Open Sans"/>
              </a:rPr>
              <a:t>since: 2018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8144431" y="2708853"/>
            <a:ext cx="792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:Asset</a:t>
            </a:r>
            <a:endParaRPr sz="1200" b="1"/>
          </a:p>
        </p:txBody>
      </p:sp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graph database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Open Sans ExtraBold"/>
              <a:buNone/>
            </a:pPr>
            <a:r>
              <a:rPr lang="en"/>
              <a:t>How do I query the graph?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/>
          <p:nvPr/>
        </p:nvSpPr>
        <p:spPr>
          <a:xfrm>
            <a:off x="380275" y="1128450"/>
            <a:ext cx="854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7839818" y="4789223"/>
            <a:ext cx="2121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Merriweather Sans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11</a:t>
            </a:fld>
            <a:r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￼</a:t>
            </a:r>
            <a:endParaRPr sz="900"/>
          </a:p>
        </p:txBody>
      </p:sp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Cypher</a:t>
            </a:r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pattern-matching query language made for graphs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/>
          <p:nvPr/>
        </p:nvSpPr>
        <p:spPr>
          <a:xfrm>
            <a:off x="380275" y="1128450"/>
            <a:ext cx="854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7839818" y="4789223"/>
            <a:ext cx="2121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Merriweather Sans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12</a:t>
            </a:fld>
            <a:r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￼</a:t>
            </a:r>
            <a:endParaRPr sz="900"/>
          </a:p>
        </p:txBody>
      </p:sp>
      <p:sp>
        <p:nvSpPr>
          <p:cNvPr id="207" name="Google Shape;207;p2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Cypher</a:t>
            </a:r>
            <a:endParaRPr/>
          </a:p>
        </p:txBody>
      </p:sp>
      <p:sp>
        <p:nvSpPr>
          <p:cNvPr id="208" name="Google Shape;208;p2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pattern matching query language made for graphs</a:t>
            </a:r>
            <a:b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333333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Expressive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Pattern-Matching</a:t>
            </a:r>
            <a:endParaRPr sz="22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/>
          <p:nvPr/>
        </p:nvSpPr>
        <p:spPr>
          <a:xfrm>
            <a:off x="380275" y="1128450"/>
            <a:ext cx="854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7839818" y="4789223"/>
            <a:ext cx="2121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Merriweather Sans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13</a:t>
            </a:fld>
            <a:r>
              <a:rPr lang="en" sz="1200" b="0" i="0" u="none" strike="noStrike" cap="non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￼</a:t>
            </a:r>
            <a:endParaRPr sz="900"/>
          </a:p>
        </p:txBody>
      </p:sp>
      <p:sp>
        <p:nvSpPr>
          <p:cNvPr id="215" name="Google Shape;215;p3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Cypher</a:t>
            </a:r>
            <a:endParaRPr/>
          </a:p>
        </p:txBody>
      </p:sp>
      <p:sp>
        <p:nvSpPr>
          <p:cNvPr id="216" name="Google Shape;216;p3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 pattern matching query language made for graphs</a:t>
            </a:r>
            <a:br>
              <a:rPr lang="en" sz="22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D9D9D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D9D9D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Expressive</a:t>
            </a: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D9D9D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Pattern Matching</a:t>
            </a: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With ASCII ART ¯\_(ツ)_/¯</a:t>
            </a:r>
            <a:endParaRPr sz="22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MATCH to retrieve nodes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//Match all nodes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(n)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3" name="Google Shape;22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673" y="1237369"/>
            <a:ext cx="3343303" cy="15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MATCH to retrieve nodes</a:t>
            </a:r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//Match all nodes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(n) 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//Match all nodes with a Person label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(n:Person)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0" name="Google Shape;23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673" y="1237369"/>
            <a:ext cx="3343303" cy="15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MATCH to retrieve nodes</a:t>
            </a:r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//Match all nodes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(n) 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//Match all nodes with a Person label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(n:Person) 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//Match all nodes with a Person label and property name is "Tom Hanks"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(n:Person {name: "Tom Hanks"})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673" y="1237369"/>
            <a:ext cx="3343303" cy="15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is "Tom Hanks" - Inline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(p:Person {name: "Tom Hanks"}) //Only works with exact matches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p3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Use MATCH and properties to retrieve nodes </a:t>
            </a:r>
            <a:endParaRPr sz="2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is "Tom Hanks" - Inline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 {name: "Tom Hanks"}) //Only works with exact matches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equals "Tom Hanks"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(p:Person)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WHERE p.name = "Tom Hanks"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9" name="Google Shape;249;p3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Use MATCH and properties to retrieve nodes </a:t>
            </a:r>
            <a:endParaRPr sz="2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is "Tom Hanks" - Inline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 {name: "Tom Hanks"}) //Only works with exact matches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equals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WHERE p.name =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//Return nodes with label Movie, released property is between 1991 and 1999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(m:Movie)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WHERE m.released &gt; 1990 AND m.released &lt; 2000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m;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5" name="Google Shape;255;p3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Use MATCH and properties to retrieve nodes </a:t>
            </a:r>
            <a:endParaRPr sz="2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pic>
        <p:nvPicPr>
          <p:cNvPr id="262" name="Google Shape;262;p37"/>
          <p:cNvPicPr preferRelativeResize="0"/>
          <p:nvPr/>
        </p:nvPicPr>
        <p:blipFill rotWithShape="1">
          <a:blip r:embed="rId3">
            <a:alphaModFix/>
          </a:blip>
          <a:srcRect t="9133" b="13335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//Find all the movies Tom Hanks acted in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(:Person {name:"Tom Hanks"})-[:ACTED_IN]-&gt;(m:Movie)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m.title;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pic>
        <p:nvPicPr>
          <p:cNvPr id="269" name="Google Shape;269;p38"/>
          <p:cNvPicPr preferRelativeResize="0"/>
          <p:nvPr/>
        </p:nvPicPr>
        <p:blipFill rotWithShape="1">
          <a:blip r:embed="rId3">
            <a:alphaModFix/>
          </a:blip>
          <a:srcRect t="9133" b="13335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//Find all the movies Tom Hanks acted in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(:Person {name:"Tom Hanks"})-[:ACTED_IN]-&gt;(m:Movie)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m.title;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//Find all the movies Tom Hanks directed and order by latest movie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(:Person {name:"Tom Hanks"})-[:DIRECTED]-&gt;(m:Movie)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m.title, m.released ORDER BY m.released DESC;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5" name="Google Shape;275;p3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3">
            <a:alphaModFix/>
          </a:blip>
          <a:srcRect t="9133" b="13335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//Find all the movies Tom Hanks acted in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(:Person {name:"Tom Hanks"})-[:ACTED_IN]-&gt;(m:Movie)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m.title;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//Find all the movies Tom Hanks directed and order by latest movie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(:Person {name:"Tom Hanks"})-[:DIRECTED]-&gt;(m:Movie)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m.title, m.released ORDER BY m.released DESC;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//Find all of the co-actors Tom Hanks have worked with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(:Person {name:"Tom Hanks"})--&gt;(:Movie)&lt;-[:ACTED_IN]-(coActor:Person)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coActor.name;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p40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pic>
        <p:nvPicPr>
          <p:cNvPr id="283" name="Google Shape;283;p40"/>
          <p:cNvPicPr preferRelativeResize="0"/>
          <p:nvPr/>
        </p:nvPicPr>
        <p:blipFill rotWithShape="1">
          <a:blip r:embed="rId3">
            <a:alphaModFix/>
          </a:blip>
          <a:srcRect t="9133" b="13335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//Create a person node called "Tom Hanks"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CREATE (p:Person {name:"Tom Hanks"});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9" name="Google Shape;289;p4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//Create a person node called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CREATE (p:Person {name:"Tom Hanks"});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//Create an ACTED_IN relationship between "Tom Hanks" and "Apollo 13"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(p:Person {name:"Tom Hanks"}), (m:Movie {title:"Apollo 13"})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CREATE (p)-[:ACTED_IN]-&gt;(m);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5" name="Google Shape;295;p42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//Create a person node called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CREATE (p:Person {name:"Tom Hanks"});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//Create an ACTED_IN relationship between "Tom Hanks" and "Apollo 13"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 {name:"Tom Hanks"}), (m:Movie {title:"Apollo 13"})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CREATE (p)-[:ACTED_IN]-&gt;(m);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//Create the pattern of "Tom Hanks" ACTED_IN "Apollo 13"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//This will create the entire pattern, nodes and all!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CREATE (:Person {name:"Tom Hanks")-[:ACTED_IN]-&gt;(:Movie {title:"Apollo 13});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1" name="Google Shape;301;p4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Open Sans ExtraBold"/>
              <a:buNone/>
            </a:pPr>
            <a:r>
              <a:rPr lang="en"/>
              <a:t>So how do I continue my graph journey?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Microsoft Office PowerPoint</Application>
  <PresentationFormat>On-screen Show (16:9)</PresentationFormat>
  <Paragraphs>217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Economica</vt:lpstr>
      <vt:lpstr>Open Sans ExtraBold</vt:lpstr>
      <vt:lpstr>Courier New</vt:lpstr>
      <vt:lpstr>Open Sans</vt:lpstr>
      <vt:lpstr>Helvetica Neue Light</vt:lpstr>
      <vt:lpstr>Calibri</vt:lpstr>
      <vt:lpstr>Open Sans Light</vt:lpstr>
      <vt:lpstr>Merriweather Sans</vt:lpstr>
      <vt:lpstr>Arial</vt:lpstr>
      <vt:lpstr>Luxe</vt:lpstr>
      <vt:lpstr>Introduction to Cypher</vt:lpstr>
      <vt:lpstr>In this session</vt:lpstr>
      <vt:lpstr>So what does a (property) graph look like?</vt:lpstr>
      <vt:lpstr>Graph components</vt:lpstr>
      <vt:lpstr>Graph components</vt:lpstr>
      <vt:lpstr>Property graph database</vt:lpstr>
      <vt:lpstr>Property graph database</vt:lpstr>
      <vt:lpstr>Property graph database</vt:lpstr>
      <vt:lpstr>Property graph database</vt:lpstr>
      <vt:lpstr>How do I query the graph?</vt:lpstr>
      <vt:lpstr>Cypher</vt:lpstr>
      <vt:lpstr>Cypher</vt:lpstr>
      <vt:lpstr>Cypher</vt:lpstr>
      <vt:lpstr>Use MATCH to retrieve nodes</vt:lpstr>
      <vt:lpstr>Use MATCH to retrieve nodes</vt:lpstr>
      <vt:lpstr>Use MATCH to retrieve nodes</vt:lpstr>
      <vt:lpstr>Use MATCH and properties to retrieve nodes </vt:lpstr>
      <vt:lpstr>Use MATCH and properties to retrieve nodes </vt:lpstr>
      <vt:lpstr>Use MATCH and properties to retrieve nodes </vt:lpstr>
      <vt:lpstr>Extending the MATCH</vt:lpstr>
      <vt:lpstr>Extending the MATCH</vt:lpstr>
      <vt:lpstr>Extending the MATCH</vt:lpstr>
      <vt:lpstr>Extending the MATCH</vt:lpstr>
      <vt:lpstr>CREATE </vt:lpstr>
      <vt:lpstr>CREATE </vt:lpstr>
      <vt:lpstr>CREATE </vt:lpstr>
      <vt:lpstr>So how do I continue my graph journey?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vishwa rudra</cp:lastModifiedBy>
  <cp:revision>3</cp:revision>
  <dcterms:modified xsi:type="dcterms:W3CDTF">2026-02-03T05:24:26Z</dcterms:modified>
</cp:coreProperties>
</file>